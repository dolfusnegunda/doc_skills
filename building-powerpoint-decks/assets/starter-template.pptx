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Northwind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47</c:v>
                </c:pt>
                <c:pt idx="2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0891B2"/>
            </a:solidFill>
          </c:spP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</c:v>
                </c:pt>
                <c:pt idx="1">
                  <c:v>36</c:v>
                </c:pt>
                <c:pt idx="2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Globex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28</c:v>
                </c:pt>
                <c:pt idx="1">
                  <c:v>30</c:v>
                </c:pt>
                <c:pt idx="2">
                  <c:v>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11680"/>
            <a:ext cx="10545775" cy="1828800"/>
          </a:xfrm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Segoe UI"/>
              </a:rPr>
              <a:t>AI Platform Spend &amp; Adoption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Segoe UI"/>
              </a:rPr>
              <a:t>QUARTERLY REVIEW · Q1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54617A"/>
                </a:solidFill>
                <a:latin typeface="Segoe UI"/>
              </a:rPr>
              <a:t>Where spend concentrated, how it moved, and where to 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54617A"/>
                </a:solidFill>
                <a:latin typeface="Segoe UI"/>
              </a:rPr>
              <a:t>Prepared by Platform Finance  ·  15 Jul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931920"/>
            <a:ext cx="10545775" cy="109728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Where the spend went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2563EB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Spend rose every month and concentrated in the top three companies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>
                <a:solidFill>
                  <a:srgbClr val="0F172A"/>
                </a:solidFill>
                <a:latin typeface="Segoe UI"/>
              </a:rPr>
              <a:t>•  Q1 total reached $486k, up 12% on the prior quarter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>
                <a:solidFill>
                  <a:srgbClr val="0F172A"/>
                </a:solidFill>
                <a:latin typeface="Segoe UI"/>
              </a:rPr>
              <a:t>•  March was the largest month at $186k (+18%)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>
                <a:solidFill>
                  <a:srgbClr val="0F172A"/>
                </a:solidFill>
                <a:latin typeface="Segoe UI"/>
              </a:rPr>
              <a:t>•  Top 3 companies drove 68% of all spend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>
                <a:solidFill>
                  <a:srgbClr val="0F172A"/>
                </a:solidFill>
                <a:latin typeface="Segoe UI"/>
              </a:rPr>
              <a:t>•  214 distinct users were active across the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Northwind's growth is broad-based, not one heavy 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4998567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>
                <a:solidFill>
                  <a:srgbClr val="0F172A"/>
                </a:solidFill>
                <a:latin typeface="Segoe UI"/>
              </a:rPr>
              <a:t>•  18 active users this quarter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>
                <a:solidFill>
                  <a:srgbClr val="0F172A"/>
                </a:solidFill>
                <a:latin typeface="Segoe UI"/>
              </a:rPr>
              <a:t>•  Spend rose steadily Jan → Mar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>
                <a:solidFill>
                  <a:srgbClr val="0F172A"/>
                </a:solidFill>
                <a:latin typeface="Segoe UI"/>
              </a:rPr>
              <a:t>•  Top user A. Chen at $8.4k in March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>
                <a:solidFill>
                  <a:srgbClr val="0F172A"/>
                </a:solidFill>
                <a:latin typeface="Segoe UI"/>
              </a:rPr>
              <a:t>•  No single user above 15% of the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0167" y="2560320"/>
            <a:ext cx="4998567" cy="3108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70167" y="3840480"/>
            <a:ext cx="4998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4617A"/>
                </a:solidFill>
                <a:latin typeface="Segoe UI"/>
              </a:rPr>
              <a:t>[ visual / chart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March drove the quarter's growth across all three companies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2377440"/>
          <a:ext cx="10545775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45775" cy="16459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Tie spend to outcomes and review the heaviest users monthly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Segoe U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400">
                <a:solidFill>
                  <a:srgbClr val="F1F5F9"/>
                </a:solidFill>
                <a:latin typeface="Segoe UI"/>
              </a:rPr>
              <a:t>•  Monitor the top decile of users each month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400">
                <a:solidFill>
                  <a:srgbClr val="F1F5F9"/>
                </a:solidFill>
                <a:latin typeface="Segoe UI"/>
              </a:rPr>
              <a:t>•  Attribute cost to shipped results, not raw activity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400">
                <a:solidFill>
                  <a:srgbClr val="F1F5F9"/>
                </a:solidFill>
                <a:latin typeface="Segoe UI"/>
              </a:rPr>
              <a:t>•  Set guardrails on premium models and tool-heavy 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